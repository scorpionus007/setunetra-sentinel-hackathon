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3108960"/>
          </a:xfrm>
          <a:prstGeom prst="rect">
            <a:avLst/>
          </a:prstGeom>
          <a:solidFill>
            <a:srgbClr val="1B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29984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566928"/>
            <a:ext cx="1554480" cy="1554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"/>
              </a:rPr>
              <a:t>SetuNetra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9933"/>
                </a:solidFill>
                <a:latin typeface="Segoe UI"/>
              </a:rPr>
              <a:t>Integrated CCTV Registry · Unified Viewing · VMS Federation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AEBBDD"/>
                </a:solidFill>
                <a:latin typeface="Segoe UI"/>
              </a:rPr>
              <a:t>Gujarat Police Innovation Challenge 2026  ·  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9933"/>
                </a:solidFill>
                <a:latin typeface="Segoe UI"/>
              </a:rPr>
              <a:t>T E A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96128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Aryan Sakaria     Prerana Wagh     Mahek Lad     Shaunak Shukla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41A"/>
                </a:solidFill>
                <a:latin typeface="Segoe U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2213F"/>
                </a:solidFill>
                <a:latin typeface="Segoe UI"/>
              </a:rPr>
              <a:t>Fragmented CCTV, unified into one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372"/>
                </a:solidFill>
                <a:latin typeface="Segoe UI"/>
              </a:rPr>
              <a:t>Police, Municipal Corporations, Transport, Panchayat and Health departments each run CCTV independently — with no central way to identify, map, view or coordinate them, across heterogeneous VMS platforms and vendors, at a statewide scale of ~80,000 cameras.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3538728" cy="28803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3538728" cy="10972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08376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9933"/>
                </a:solidFill>
                <a:latin typeface="Segoe UI"/>
              </a:rPr>
              <a:t>MODEL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374136"/>
            <a:ext cx="30266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2213F"/>
                </a:solidFill>
                <a:latin typeface="Segoe UI"/>
              </a:rPr>
              <a:t>Registry &amp; GIS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15384"/>
            <a:ext cx="30266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372"/>
                </a:solidFill>
                <a:latin typeface="Segoe UI"/>
              </a:rPr>
              <a:t>Catalogue every camera — location, department, ownership, connectivity, storage — on an interactive GIS map, with health monitoring and coverage-gap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697480"/>
            <a:ext cx="3538728" cy="28803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697480"/>
            <a:ext cx="3538728" cy="109728"/>
          </a:xfrm>
          <a:prstGeom prst="rect">
            <a:avLst/>
          </a:prstGeom>
          <a:solidFill>
            <a:srgbClr val="102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3008376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214B"/>
                </a:solidFill>
                <a:latin typeface="Segoe UI"/>
              </a:rPr>
              <a:t>MODEL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374136"/>
            <a:ext cx="30266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2213F"/>
                </a:solidFill>
                <a:latin typeface="Segoe UI"/>
              </a:rPr>
              <a:t>Unified Viewing &amp;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215384"/>
            <a:ext cx="30266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372"/>
                </a:solidFill>
                <a:latin typeface="Segoe UI"/>
              </a:rPr>
              <a:t>One live viewing wall across all feeds, with operator event tagging, a searchable camera-wise index and rule-based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697480"/>
            <a:ext cx="3538728" cy="288036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697480"/>
            <a:ext cx="3538728" cy="10972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3008376"/>
            <a:ext cx="3026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38808"/>
                </a:solidFill>
                <a:latin typeface="Segoe UI"/>
              </a:rPr>
              <a:t>MODEL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374136"/>
            <a:ext cx="30266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2213F"/>
                </a:solidFill>
                <a:latin typeface="Segoe UI"/>
              </a:rPr>
              <a:t>VMS Federation &amp; 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215384"/>
            <a:ext cx="30266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372"/>
                </a:solidFill>
                <a:latin typeface="Segoe UI"/>
              </a:rPr>
              <a:t>A pluggable vendor-adapter framework, a metadata exchange bus and a cross-system event-correlation engine — without replacing any VMS.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38808"/>
                </a:solidFill>
                <a:latin typeface="Segoe UI"/>
              </a:rPr>
              <a:t>＋  </a:t>
            </a:r>
            <a:r>
              <a:rPr sz="1400" b="1">
                <a:solidFill>
                  <a:srgbClr val="12213F"/>
                </a:solidFill>
                <a:latin typeface="Segoe UI"/>
              </a:rPr>
              <a:t>A cybersecurity layer runs across all three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41A"/>
                </a:solidFill>
                <a:latin typeface="Segoe UI"/>
              </a:rP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2213F"/>
                </a:solidFill>
                <a:latin typeface="Segoe UI"/>
              </a:rPr>
              <a:t>Our Solution &amp;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440680" cy="429768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09728" cy="4297680"/>
          </a:xfrm>
          <a:prstGeom prst="rect">
            <a:avLst/>
          </a:prstGeom>
          <a:solidFill>
            <a:srgbClr val="102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214B"/>
                </a:solidFill>
                <a:latin typeface="Segoe U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47091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0214B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Unified command console — registry, GIS, viewing, federation &amp; security in one pane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0214B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Live RTSP ingest — CPU-light, no GPU, no ML in the critical path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0214B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Cross-vendor federation with a deterministic correlation engine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0214B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JWT auth, department-scoped RBAC &amp; an immutable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37360"/>
            <a:ext cx="5440680" cy="4297680"/>
          </a:xfrm>
          <a:prstGeom prst="roundRect">
            <a:avLst/>
          </a:prstGeom>
          <a:solidFill>
            <a:srgbClr val="FBFAF6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737360"/>
            <a:ext cx="109728" cy="429768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0482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8808"/>
                </a:solidFill>
                <a:latin typeface="Segoe UI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606040"/>
            <a:ext cx="47091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One live view across 5 departments and 10 districts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Proactive health monitoring &amp; coverage-gap analysis for investment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Coordinate across vendors without replacing a single existing VMS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•  </a:t>
            </a:r>
            <a:r>
              <a:rPr sz="1450" b="0">
                <a:solidFill>
                  <a:srgbClr val="12213F"/>
                </a:solidFill>
                <a:latin typeface="Segoe UI"/>
              </a:rPr>
              <a:t>Secure, auditable — and architected to scale to 80,000 cameras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41A"/>
                </a:solidFill>
                <a:latin typeface="Segoe UI"/>
              </a:rPr>
              <a:t>PROBLEM STATEMENT  ·  NEEDS  vs 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2213F"/>
                </a:solidFill>
                <a:latin typeface="Segoe UI"/>
              </a:rPr>
              <a:t>Requirements Coverage — Models 1 · 2 · 3 +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Bulk, manual &amp; API camera 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677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Interactive GIS map with dept / status 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249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Camera health &amp; maintenance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004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821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821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Coverage-gap analysis (uncovered zones)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393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Role-based search, filter &amp;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148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0965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Immutable metadata audit trail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720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537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5537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RTSP feed aggregation (unified viewing)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0292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109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Configurable multi-camera video wall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4864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681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681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Click-to-maximise live feed viewer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5352" y="18288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18105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2552" y="18105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Event tagging &amp; camera-wise indexing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5352" y="22860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22677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22677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Searchable movement / event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27432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27249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02552" y="27249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Rule-based alerts (offline · tamper · watchlist)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5352" y="32004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31821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31821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Vendor adapter framework (5 VMS vendors)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45352" y="36576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36393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2552" y="36393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Metadata exchange bus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45352" y="41148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40965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02552" y="40965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Cross-system event-correlation engine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45352" y="45720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5352" y="45537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02552" y="45537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JWT auth + department-wise RBAC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45352" y="50292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50109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02552" y="50109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Rate limiting, lockout &amp; security headers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45352" y="5486400"/>
            <a:ext cx="292608" cy="292608"/>
          </a:xfrm>
          <a:prstGeom prst="round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45352" y="546811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02552" y="5468112"/>
            <a:ext cx="4983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12213F"/>
                </a:solidFill>
                <a:latin typeface="Segoe UI"/>
              </a:rPr>
              <a:t>GIS visualisation + scalability to 80,000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Segoe UI"/>
              </a:rPr>
              <a:t>All requirements of the chosen models are implemented and verified end-to-end.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B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7796" y="0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7796" y="6729984"/>
            <a:ext cx="4063899" cy="12801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051560"/>
            <a:ext cx="999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  <a:latin typeface="Segoe U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9994392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FFFFFF"/>
                </a:solidFill>
                <a:latin typeface="Segoe UI"/>
              </a:rPr>
              <a:t>A production-shaped, GPU-free foundation that makes the state's CCTV </a:t>
            </a:r>
            <a:r>
              <a:rPr sz="2600" b="1">
                <a:solidFill>
                  <a:srgbClr val="FF9933"/>
                </a:solidFill>
                <a:latin typeface="Segoe UI"/>
              </a:rPr>
              <a:t>visible, viewable and coordinated</a:t>
            </a:r>
            <a:r>
              <a:rPr sz="2600" b="0">
                <a:solidFill>
                  <a:srgbClr val="FFFFFF"/>
                </a:solidFill>
                <a:latin typeface="Segoe UI"/>
              </a:rPr>
              <a:t> — today, and architected to scale to 80,000 cameras.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9994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AEBBDD"/>
                </a:solidFill>
                <a:latin typeface="Segoe UI"/>
              </a:rPr>
              <a:t>Registry &amp; GIS  ·  Unified Viewing  ·  VMS Federation  ·  Cybersecurity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15000"/>
            <a:ext cx="9994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Aryan Sakaria  ·  Prerana Wagh  ·  Mahek Lad  ·  Shaunak Shukla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